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3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9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6459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822960"/>
            <a:ext cx="16459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16459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79408" y="1645920"/>
            <a:ext cx="16459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468880"/>
            <a:ext cx="16459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79408" y="2468880"/>
            <a:ext cx="16459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3291840"/>
            <a:ext cx="164592" cy="7498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79408" y="3291840"/>
            <a:ext cx="164592" cy="7498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Kaggle Competition Project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err="1">
                <a:solidFill>
                  <a:srgbClr val="1565C0"/>
                </a:solidFill>
              </a:rPr>
              <a:t>HousePrice</a:t>
            </a:r>
            <a:endParaRPr lang="en-US" sz="4800"/>
          </a:p>
        </p:txBody>
      </p:sp>
      <p:sp>
        <p:nvSpPr>
          <p:cNvPr id="13" name="Text 11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A237E"/>
                </a:solidFill>
              </a:rPr>
              <a:t>Phân tích và Dự đoán Giá Nhà</a:t>
            </a:r>
            <a:endParaRPr lang="en-US" sz="2200"/>
          </a:p>
          <a:p>
            <a:pPr marL="0" indent="0" algn="ctr">
              <a:buNone/>
            </a:pPr>
            <a:r>
              <a:rPr lang="en-US" sz="2200" b="1">
                <a:solidFill>
                  <a:srgbClr val="1A237E"/>
                </a:solidFill>
              </a:rPr>
              <a:t>(Ames Housing Dataset)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2926080" y="2651760"/>
            <a:ext cx="329184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Thành viên: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743200" y="28346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00">
                <a:solidFill>
                  <a:srgbClr val="616161"/>
                </a:solidFill>
              </a:rPr>
              <a:t>Nguyễn Huy Hoàng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743200" y="316382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2743200" y="349300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2743200" y="382219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Giảng viên: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94944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16161"/>
                </a:solidFill>
              </a:rPr>
              <a:t>Đỗ Như Tài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Mục lục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75488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75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1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868680" y="1362456"/>
            <a:ext cx="8001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2121"/>
                </a:solidFill>
              </a:rPr>
              <a:t>Phân tích bài toán và đặc trưng dữ liệu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475488" cy="5852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475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2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8001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2121"/>
                </a:solidFill>
              </a:rPr>
              <a:t>Kiến trúc hệ thống &amp; OOP Refactoring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475488" cy="58521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450592"/>
            <a:ext cx="475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3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914400" y="2926080"/>
            <a:ext cx="8001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450592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2121"/>
                </a:solidFill>
              </a:rPr>
              <a:t>Feature Engineering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475488" cy="58521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18688"/>
            <a:ext cx="475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4</a:t>
            </a:r>
            <a:endParaRPr lang="en-US" sz="2000"/>
          </a:p>
        </p:txBody>
      </p:sp>
      <p:sp>
        <p:nvSpPr>
          <p:cNvPr id="18" name="Shape 16"/>
          <p:cNvSpPr/>
          <p:nvPr/>
        </p:nvSpPr>
        <p:spPr>
          <a:xfrm>
            <a:off x="868680" y="3657600"/>
            <a:ext cx="8001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2121"/>
                </a:solidFill>
              </a:rPr>
              <a:t>Phương pháp và quá trình thử nghiệm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274320" y="3986784"/>
            <a:ext cx="475488" cy="58521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986784"/>
            <a:ext cx="475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5</a:t>
            </a:r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868680" y="4453128"/>
            <a:ext cx="8001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986784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12121"/>
                </a:solidFill>
              </a:rPr>
              <a:t>Kết quả và đánh giá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1.1 Phân tích bài toán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Bài toán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212121"/>
                </a:solidFill>
              </a:rPr>
              <a:t>Loại: </a:t>
            </a:r>
            <a:r>
              <a:rPr lang="en-US" sz="1300">
                <a:solidFill>
                  <a:srgbClr val="212121"/>
                </a:solidFill>
              </a:rPr>
              <a:t>Hồi quy (Regression)
</a:t>
            </a:r>
            <a:r>
              <a:rPr lang="en-US" sz="1300" b="1">
                <a:solidFill>
                  <a:srgbClr val="212121"/>
                </a:solidFill>
              </a:rPr>
              <a:t>Dataset: </a:t>
            </a:r>
            <a:r>
              <a:rPr lang="en-US" sz="1300">
                <a:solidFill>
                  <a:srgbClr val="212121"/>
                </a:solidFill>
              </a:rPr>
              <a:t>Ames Housing (Kaggle)
</a:t>
            </a:r>
            <a:r>
              <a:rPr lang="en-US" sz="1300" b="1">
                <a:solidFill>
                  <a:srgbClr val="212121"/>
                </a:solidFill>
              </a:rPr>
              <a:t>Mục tiêu: </a:t>
            </a:r>
            <a:r>
              <a:rPr lang="en-US" sz="1300">
                <a:solidFill>
                  <a:srgbClr val="212121"/>
                </a:solidFill>
              </a:rPr>
              <a:t>Dự đoán giá bán nhà
(SalePrice) bằng Machine Learning.
</a:t>
            </a:r>
            <a:r>
              <a:rPr lang="en-US" sz="1300" b="1">
                <a:solidFill>
                  <a:srgbClr val="212121"/>
                </a:solidFill>
              </a:rPr>
              <a:t>Metric: </a:t>
            </a:r>
            <a:r>
              <a:rPr lang="en-US" sz="1300">
                <a:solidFill>
                  <a:srgbClr val="212121"/>
                </a:solidFill>
              </a:rPr>
              <a:t>RMSE trên log(SalePrice)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212121"/>
                </a:solidFill>
              </a:rPr>
              <a:t>(chuẩn Kaggle Competition)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51960" cy="3977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519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Tổng quan dữ liệu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754880" y="1353312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</a:rPr>
              <a:t>Train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126480" y="1353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1,460 mẫu nhà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</a:rPr>
              <a:t>Test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1,459 mẫu cần dự đoán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754880" y="2670048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6700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</a:rPr>
              <a:t>Features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126480" y="26700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81 đặc trưng (79 + target + Id)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754880" y="3328416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2841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</a:rPr>
              <a:t>Target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126480" y="332841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SalePrice (đã log-transform)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754880" y="3986784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98678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</a:rPr>
              <a:t>Source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126480" y="39867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Ames, Iowa – năm 2006–2010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1.2 Phân phối SalePrice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Biểu đồ thực tế từ version1_EDA_Baseline.ipynb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54864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868680"/>
            <a:ext cx="2697480" cy="3291840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508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5100"/>
                </a:solidFill>
              </a:rPr>
              <a:t>Nhận xét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355080" y="13258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SalePrice lệch phải (right-skewed)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lớn nhà </a:t>
            </a:r>
            <a:r>
              <a:rPr lang="en-US" sz="115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 t</a:t>
            </a:r>
            <a:r>
              <a:rPr lang="en-US" sz="1200"/>
              <a:t>ừ 100,000 USD </a:t>
            </a:r>
            <a:r>
              <a:rPr lang="en-US" sz="1200" err="1"/>
              <a:t>đến</a:t>
            </a:r>
            <a:r>
              <a:rPr lang="en-US" sz="1200"/>
              <a:t> 250,000 USD.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 </a:t>
            </a:r>
            <a:r>
              <a:rPr lang="en-US" sz="115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outlier</a:t>
            </a:r>
            <a:r>
              <a:rPr lang="vi-VN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/>
              <a:t>giá</a:t>
            </a:r>
            <a:r>
              <a:rPr lang="en-US" sz="1200"/>
              <a:t> </a:t>
            </a:r>
            <a:r>
              <a:rPr lang="en-US" sz="1200" err="1"/>
              <a:t>trên</a:t>
            </a:r>
            <a:r>
              <a:rPr lang="en-US" sz="1200"/>
              <a:t> 500,000 USD.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Cần log-transform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 khi training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Giảm ảnh hưởng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 outlier cực lớn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4224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9E9E9E"/>
                </a:solidFill>
              </a:rPr>
              <a:t>📁 outputs/01_price_distribution.png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1.3 Phân tích Missing Values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Biểu đồ thực tế từ dự án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41248"/>
            <a:ext cx="8686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572000"/>
            <a:ext cx="86868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12121"/>
                </a:solidFill>
              </a:rPr>
              <a:t>Chiến lược: Categorical NaN → 'None'  |  Numerical NaN → 0  |  LotFrontage → Median theo Neighborhood  |  Còn lại → Mode/0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3200400" y="4507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E9E9E"/>
                </a:solidFill>
              </a:rPr>
              <a:t>📁 reports/04_missing_values.png</a:t>
            </a:r>
            <a:endParaRPr lang="en-US" sz="800"/>
          </a:p>
        </p:txBody>
      </p:sp>
      <p:sp>
        <p:nvSpPr>
          <p:cNvPr id="9" name="Shape 6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1.4 Phát hiện Ngoại lai (Outliers)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GrLivArea vs SalePrice – Biểu đồ thực tế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41248"/>
            <a:ext cx="59436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868680"/>
            <a:ext cx="2331720" cy="3657600"/>
          </a:xfrm>
          <a:prstGeom prst="rect">
            <a:avLst/>
          </a:prstGeom>
          <a:solidFill>
            <a:srgbClr val="FFEBEE"/>
          </a:solidFill>
          <a:ln w="1524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0" y="914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2185B"/>
                </a:solidFill>
              </a:rPr>
              <a:t>Outliers phát hiện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201168" cy="20116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49440" y="1325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2 căn nhà diện tích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&gt; 4500 ft² nhưng giá</a:t>
            </a:r>
            <a:endParaRPr lang="en-US" sz="1100"/>
          </a:p>
          <a:p>
            <a:pPr marL="0" indent="0">
              <a:buNone/>
            </a:pPr>
            <a:r>
              <a:rPr lang="vi-VN" sz="1100">
                <a:solidFill>
                  <a:srgbClr val="212121"/>
                </a:solidFill>
              </a:rPr>
              <a:t>Chỉ 160.000 USD- 185.000 USD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201168" cy="20116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4944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→ Rất rẻ so với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kích thước → Outlier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rõ ràng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6675120" y="3383280"/>
            <a:ext cx="201168" cy="20116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4944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Xử lý: Loại 2 điểm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này khỏi training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set (nếu cần)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455371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E9E9E"/>
                </a:solidFill>
              </a:rPr>
              <a:t>📁 reports/05_outliers_scatter.png</a:t>
            </a:r>
            <a:endParaRPr lang="en-US" sz="800"/>
          </a:p>
        </p:txBody>
      </p:sp>
      <p:sp>
        <p:nvSpPr>
          <p:cNvPr id="15" name="Shape 1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1.5 Ma trận tương quan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Top 10 features tương quan cao nhất với SalePrice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22960"/>
            <a:ext cx="57607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56148" y="793242"/>
            <a:ext cx="2788920" cy="3703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36208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7E"/>
                </a:solidFill>
              </a:rPr>
              <a:t>Tương quan với SalePrice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236208" y="135331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OverallQual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7589520" y="1417320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89520" y="1417320"/>
            <a:ext cx="1805940" cy="21945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32520" y="13533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185B"/>
                </a:solidFill>
              </a:rPr>
              <a:t>0.79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6236208" y="174650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GrLivArea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7589520" y="1810512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89520" y="1810512"/>
            <a:ext cx="1623060" cy="21945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32520" y="17465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185B"/>
                </a:solidFill>
              </a:rPr>
              <a:t>0.71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6236208" y="21396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GarageCars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7589520" y="2203704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589520" y="2203704"/>
            <a:ext cx="146304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32520" y="21396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65100"/>
                </a:solidFill>
              </a:rPr>
              <a:t>0.64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6236208" y="2532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GarageArea</a:t>
            </a:r>
            <a:endParaRPr lang="en-US" sz="1050"/>
          </a:p>
        </p:txBody>
      </p:sp>
      <p:sp>
        <p:nvSpPr>
          <p:cNvPr id="21" name="Shape 18"/>
          <p:cNvSpPr/>
          <p:nvPr/>
        </p:nvSpPr>
        <p:spPr>
          <a:xfrm>
            <a:off x="7589520" y="2596896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589520" y="2596896"/>
            <a:ext cx="141732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732520" y="2532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65100"/>
                </a:solidFill>
              </a:rPr>
              <a:t>0.62</a:t>
            </a:r>
            <a:endParaRPr lang="en-US" sz="1000"/>
          </a:p>
        </p:txBody>
      </p:sp>
      <p:sp>
        <p:nvSpPr>
          <p:cNvPr id="24" name="Text 21"/>
          <p:cNvSpPr/>
          <p:nvPr/>
        </p:nvSpPr>
        <p:spPr>
          <a:xfrm>
            <a:off x="6236208" y="29260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TotalBsmtSF</a:t>
            </a:r>
            <a:endParaRPr lang="en-US" sz="1050"/>
          </a:p>
        </p:txBody>
      </p:sp>
      <p:sp>
        <p:nvSpPr>
          <p:cNvPr id="25" name="Shape 22"/>
          <p:cNvSpPr/>
          <p:nvPr/>
        </p:nvSpPr>
        <p:spPr>
          <a:xfrm>
            <a:off x="7589520" y="2990088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89520" y="2990088"/>
            <a:ext cx="139446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32520" y="29260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565C0"/>
                </a:solidFill>
              </a:rPr>
              <a:t>0.61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6236208" y="33192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1stFlrSF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7589520" y="3383280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589520" y="3383280"/>
            <a:ext cx="139446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732520" y="33192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565C0"/>
                </a:solidFill>
              </a:rPr>
              <a:t>0.61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6236208" y="37124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FullBath</a:t>
            </a:r>
            <a:endParaRPr lang="en-US" sz="1050"/>
          </a:p>
        </p:txBody>
      </p:sp>
      <p:sp>
        <p:nvSpPr>
          <p:cNvPr id="33" name="Shape 30"/>
          <p:cNvSpPr/>
          <p:nvPr/>
        </p:nvSpPr>
        <p:spPr>
          <a:xfrm>
            <a:off x="7589520" y="3776472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589520" y="3776472"/>
            <a:ext cx="128016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732520" y="37124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695C"/>
                </a:solidFill>
              </a:rPr>
              <a:t>0.56</a:t>
            </a:r>
            <a:endParaRPr lang="en-US" sz="1000"/>
          </a:p>
        </p:txBody>
      </p:sp>
      <p:sp>
        <p:nvSpPr>
          <p:cNvPr id="36" name="Text 33"/>
          <p:cNvSpPr/>
          <p:nvPr/>
        </p:nvSpPr>
        <p:spPr>
          <a:xfrm>
            <a:off x="6236208" y="41056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YearBuilt</a:t>
            </a:r>
            <a:endParaRPr lang="en-US" sz="1050"/>
          </a:p>
        </p:txBody>
      </p:sp>
      <p:sp>
        <p:nvSpPr>
          <p:cNvPr id="37" name="Shape 34"/>
          <p:cNvSpPr/>
          <p:nvPr/>
        </p:nvSpPr>
        <p:spPr>
          <a:xfrm>
            <a:off x="7589520" y="4169664"/>
            <a:ext cx="2286000" cy="21945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589520" y="4169664"/>
            <a:ext cx="118872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732520" y="41056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695C"/>
                </a:solidFill>
              </a:rPr>
              <a:t>0.52</a:t>
            </a:r>
            <a:endParaRPr lang="en-US" sz="1000"/>
          </a:p>
        </p:txBody>
      </p:sp>
      <p:sp>
        <p:nvSpPr>
          <p:cNvPr id="40" name="Text 37"/>
          <p:cNvSpPr/>
          <p:nvPr/>
        </p:nvSpPr>
        <p:spPr>
          <a:xfrm>
            <a:off x="182880" y="4590288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E9E9E"/>
                </a:solidFill>
              </a:rPr>
              <a:t>📁 outputs/02_heatmap.png</a:t>
            </a:r>
            <a:endParaRPr lang="en-US" sz="800"/>
          </a:p>
        </p:txBody>
      </p:sp>
      <p:sp>
        <p:nvSpPr>
          <p:cNvPr id="41" name="Shape 38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2.1 Kiến trúc hệ thống – OOP Refactoring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Cấu trúc thư mục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HousePrice_Pro/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src/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preprocess/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│   └─ preprocess.py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features/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│   └─ features.py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models/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│   ├─ base_model.py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│   └─ xgboost_model.py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pipeline/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└─ BasePipeline.py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data/  (train.csv, test.csv)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outputs/  (ảnh EDA)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reports/  (ảnh kết quả)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version1,2,3.ipynb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617720" y="868680"/>
            <a:ext cx="4297680" cy="841248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7720" y="868680"/>
            <a:ext cx="73152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905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DataPreprocessor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773168" y="11430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src/preprocess/preprocess.py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773168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Xử lý missing values (None/0/Mode)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Fit LabelEncoder chỉ trên Train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Transform cả Train và Test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297680" cy="841248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73152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8653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FeatureEngineer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773168" y="2103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src/features/features.py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773168" y="2286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Tạo 5 meta-features mới: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TotalSF, TotalBath, HouseAge,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IsRemodeled, HasPool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4297680" cy="841248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73152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2825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BasePipeline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773168" y="306324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src/pipeline/BasePipeline.py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4773168" y="3246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Stratified 5-Fold Cross Validation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Lưu fold scores, tính mean R²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Xuất submission.csv Kaggle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4297680" cy="841248"/>
          </a:xfrm>
          <a:prstGeom prst="rect">
            <a:avLst/>
          </a:prstGeom>
          <a:solidFill>
            <a:srgbClr val="F5F7FA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749040"/>
            <a:ext cx="73152" cy="8412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37856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XGBRegressor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773168" y="40233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src/models/xgboost_model.py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773168" y="4206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Model chính: n_estimators=400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learning_rate=0.05, max_depth=5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</a:rPr>
              <a:t>subsample=0.8, colsample=0.8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2.2 Quy trình Refactoring – 4 giai đoạn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502920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822960" y="10607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</a:rPr>
              <a:t>Modularization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Phân rã Notebook khổng lồ → các module OOP độc lập trong src/. Tuân thủ nguyên lý SOLID, từng file phụ trách 1 việc.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90872" y="932688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932688"/>
            <a:ext cx="502920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93268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2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5285232" y="10607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D32"/>
                </a:solidFill>
              </a:rPr>
              <a:t>Notebook Orchestrator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285232" y="1463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Xóa bỏ train.py/predict.py. 3 Notebook (v1, v2, v3) đóng vai trò 'Nhạc trưởng' gọi các module – dễ chạy từng cell.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28600" y="2871216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871216"/>
            <a:ext cx="502920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871216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822960" y="29992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5100"/>
                </a:solidFill>
              </a:rPr>
              <a:t>K-Fold Pipeline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Thay thế Train/Test Split 80/20 bằng Stratified 5-Fold CV. Đánh giá khách quan hơn, lưu kết quả từng fold tự động.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690872" y="2871216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2871216"/>
            <a:ext cx="502920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2871216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4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5285232" y="29992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695C"/>
                </a:solidFill>
              </a:rPr>
              <a:t>Auto Report &amp; Submit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285232" y="340156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Tự động tạo thư mục reports/, lưu biểu đồ EDA và kết quả. Xuất submission.csv sẵn sàng nộp Kaggle.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3.1 Feature Engineering – Mã nguồn thực tế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src/features/features.py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50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TotalSF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47472" y="12435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TotalBsmtSF + 1stFlrSF + 2ndFlrSF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Tổng diện tích sử dụng → Yếu tố quan trọng nhất quyết định giá nhà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182880" y="1673352"/>
            <a:ext cx="877824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673352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709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TotalBath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47472" y="20025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FullBath + 0.5×HalfBath + BsmtFullBath + 0.5×BsmtHalfBath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846320" y="17647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Tổng phòng tắm quy đổi → Thu gọn 4 cột bathroom thành 1 biến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182880" y="2432304"/>
            <a:ext cx="877824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" y="2432304"/>
            <a:ext cx="73152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HouseAge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347472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YrSold − YearBuilt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Tuổi thọ công trình → Biểu diễn độ khấu hao tài sản theo thời gian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182880" y="3191256"/>
            <a:ext cx="877824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3191256"/>
            <a:ext cx="73152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2278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IsRemodeled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347472" y="35204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YearRemodAdd ≠ YearBuilt else 0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846320" y="32826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Nhà đã cải tạo → Binary flag, nhà remodel thường có giá cao hơn đáng kể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182880" y="3950208"/>
            <a:ext cx="877824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3950208"/>
            <a:ext cx="73152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9867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HasPool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347472" y="42793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PoolArea &gt; 0 else 0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46320" y="40416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Nhà có hồ bơi → Binarization từ diện tích, giảm nhiễu outlier cực trị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182880" y="4754880"/>
            <a:ext cx="8778240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</a:rPr>
              <a:t>Kết quả: Dữ liệu từ 79 → 84 cột (thêm 5 meta-features). Hệ thống in log xác nhận: '&gt;&gt;&gt; [Feature Engineering] Hoàn thành! Dữ liệu hiện có 84 cột.'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4.1 Phương pháp – Pipeline tổng thể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137160" y="896112"/>
            <a:ext cx="1371600" cy="749808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Raw Data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(train.csv)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1508760" y="1271016"/>
            <a:ext cx="109728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18488" y="896112"/>
            <a:ext cx="13716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18488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Data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Preprocessor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990088" y="1271016"/>
            <a:ext cx="109728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99816" y="896112"/>
            <a:ext cx="137160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99816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Feature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Engineer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471416" y="1271016"/>
            <a:ext cx="109728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81144" y="896112"/>
            <a:ext cx="13716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1144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Log-transform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SalePrice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952744" y="1271016"/>
            <a:ext cx="109728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62472" y="896112"/>
            <a:ext cx="13716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62472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5-Fold CV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Pipeline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7434072" y="1271016"/>
            <a:ext cx="109728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43800" y="896112"/>
            <a:ext cx="1371600" cy="7498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8961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submission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.csv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28600" y="18288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7E"/>
                </a:solidFill>
              </a:rPr>
              <a:t>Tiến trình 3 phiên bản Notebook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182880" y="2240280"/>
            <a:ext cx="2880360" cy="2514600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2240280"/>
            <a:ext cx="2880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2240280"/>
            <a:ext cx="2734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version1_EDA_Baseline.ipynb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274320" y="2633472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EDA &amp; visualize SalePrice distribution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Train/Test Split 80/20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4 models: Ridge, RF, GB, XGBoost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Kết quả: XGBoost R²=0.9094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3172968" y="2240280"/>
            <a:ext cx="2880360" cy="2514600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2240280"/>
            <a:ext cx="28803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2240280"/>
            <a:ext cx="2734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version2_Model_Tuning.ipynb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64408" y="2633472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Dùng DataPreprocessor + FeatureEngineer OOP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So sánh 4 thuật toán chi tiết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Vẽ biểu đồ R² từ kết quả thực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Best: Gradient Boosting R²=0.8996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6163056" y="2240280"/>
            <a:ext cx="2880360" cy="2514600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63056" y="2240280"/>
            <a:ext cx="28803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36208" y="2240280"/>
            <a:ext cx="2734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version3_KFold_Pipeline.ipynb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6254496" y="2633472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Log-transform SalePrice (chuẩn Kaggle)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BasePipeline: Stratified 5-Fold CV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XGBoost tuned: 400 trees, depth=5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212121"/>
                </a:solidFill>
              </a:rPr>
              <a:t>R² trung bình 5 Folds: 0.8918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4.2 Kết quả Version 2 – So sánh 5 thuật toán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Biểu đồ thực tế từ reports/03_model_comparison_v2.png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22960"/>
            <a:ext cx="8686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572000"/>
            <a:ext cx="868680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12121"/>
                </a:solidFill>
              </a:rPr>
              <a:t>Kết quả thực tế:  Ridge=0.8709  |  Decision Tree=0.7682  |  Random Forest=0.8861  |  Gradient Boosting=0.8996 🏆  |  XGBoost=0.8924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3200400" y="45079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E9E9E"/>
                </a:solidFill>
              </a:rPr>
              <a:t>📁 reports/03_model_comparison_v2.png</a:t>
            </a:r>
            <a:endParaRPr lang="en-US" sz="800"/>
          </a:p>
        </p:txBody>
      </p:sp>
      <p:sp>
        <p:nvSpPr>
          <p:cNvPr id="9" name="Shape 6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4.3 Version 3 – Stratified 5-Fold Cross Validation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Sơ đồ K-Fold (5 folds):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664208" cy="402336"/>
          </a:xfrm>
          <a:prstGeom prst="rect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Validation 1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703320" y="1188720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118872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440680" y="1188720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18872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7178040" y="1188720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118872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8942832" y="1188720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E9E9E"/>
                </a:solidFill>
              </a:rPr>
              <a:t>Fold 1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28600" y="1664208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166420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1965960" y="1664208"/>
            <a:ext cx="1664208" cy="402336"/>
          </a:xfrm>
          <a:prstGeom prst="rect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65960" y="166420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Validation 2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703320" y="1664208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03320" y="166420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5440680" y="1664208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0680" y="166420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7178040" y="1664208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166420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8942832" y="1664208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E9E9E"/>
                </a:solidFill>
              </a:rPr>
              <a:t>Fold 2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21396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1965960" y="2139696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65960" y="21396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703320" y="2139696"/>
            <a:ext cx="1664208" cy="402336"/>
          </a:xfrm>
          <a:prstGeom prst="rect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03320" y="21396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Validation 3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440680" y="2139696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40680" y="21396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7178040" y="2139696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78040" y="21396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8942832" y="2139696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E9E9E"/>
                </a:solidFill>
              </a:rPr>
              <a:t>Fold 3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228600" y="2615184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" y="261518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1965960" y="2615184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965960" y="261518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3703320" y="2615184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261518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5440680" y="2615184"/>
            <a:ext cx="1664208" cy="402336"/>
          </a:xfrm>
          <a:prstGeom prst="rect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40680" y="261518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Validation 4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7178040" y="2615184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78040" y="261518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8942832" y="2615184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E9E9E"/>
                </a:solidFill>
              </a:rPr>
              <a:t>Fold 4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228600" y="3090672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8600" y="309067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1965960" y="3090672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965960" y="309067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3703320" y="3090672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703320" y="309067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5440680" y="3090672"/>
            <a:ext cx="16642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40680" y="309067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Train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7178040" y="3090672"/>
            <a:ext cx="1664208" cy="402336"/>
          </a:xfrm>
          <a:prstGeom prst="rect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78040" y="309067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Validation 5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8942832" y="309067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E9E9E"/>
                </a:solidFill>
              </a:rPr>
              <a:t>Fold 5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228600" y="3657600"/>
            <a:ext cx="868680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370332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7E"/>
                </a:solidFill>
              </a:rPr>
              <a:t>Kết quả thực tế từ version3_KFold_Pipeline.ipynb:</a:t>
            </a:r>
            <a:endParaRPr lang="en-US" sz="1200"/>
          </a:p>
        </p:txBody>
      </p:sp>
      <p:sp>
        <p:nvSpPr>
          <p:cNvPr id="62" name="Shape 60"/>
          <p:cNvSpPr/>
          <p:nvPr/>
        </p:nvSpPr>
        <p:spPr>
          <a:xfrm>
            <a:off x="347472" y="4041648"/>
            <a:ext cx="1554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47472" y="40599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65C0"/>
                </a:solidFill>
              </a:rPr>
              <a:t>Fold 0</a:t>
            </a:r>
            <a:endParaRPr lang="en-US" sz="1000"/>
          </a:p>
        </p:txBody>
      </p:sp>
      <p:sp>
        <p:nvSpPr>
          <p:cNvPr id="64" name="Text 62"/>
          <p:cNvSpPr/>
          <p:nvPr/>
        </p:nvSpPr>
        <p:spPr>
          <a:xfrm>
            <a:off x="347472" y="43159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12121"/>
                </a:solidFill>
              </a:rPr>
              <a:t>R²=0.9043</a:t>
            </a:r>
            <a:endParaRPr lang="en-US" sz="1000"/>
          </a:p>
        </p:txBody>
      </p:sp>
      <p:sp>
        <p:nvSpPr>
          <p:cNvPr id="65" name="Text 63"/>
          <p:cNvSpPr/>
          <p:nvPr/>
        </p:nvSpPr>
        <p:spPr>
          <a:xfrm>
            <a:off x="347472" y="4517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E9E9E"/>
                </a:solidFill>
              </a:rPr>
              <a:t>MAE=0.09</a:t>
            </a:r>
            <a:endParaRPr lang="en-US" sz="900"/>
          </a:p>
        </p:txBody>
      </p:sp>
      <p:sp>
        <p:nvSpPr>
          <p:cNvPr id="66" name="Shape 64"/>
          <p:cNvSpPr/>
          <p:nvPr/>
        </p:nvSpPr>
        <p:spPr>
          <a:xfrm>
            <a:off x="2066544" y="4041648"/>
            <a:ext cx="1554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066544" y="40599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7D32"/>
                </a:solidFill>
              </a:rPr>
              <a:t>Fold 1</a:t>
            </a:r>
            <a:endParaRPr lang="en-US" sz="1000"/>
          </a:p>
        </p:txBody>
      </p:sp>
      <p:sp>
        <p:nvSpPr>
          <p:cNvPr id="68" name="Text 66"/>
          <p:cNvSpPr/>
          <p:nvPr/>
        </p:nvSpPr>
        <p:spPr>
          <a:xfrm>
            <a:off x="2066544" y="43159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12121"/>
                </a:solidFill>
              </a:rPr>
              <a:t>R²=0.9141</a:t>
            </a:r>
            <a:endParaRPr lang="en-US" sz="1000"/>
          </a:p>
        </p:txBody>
      </p:sp>
      <p:sp>
        <p:nvSpPr>
          <p:cNvPr id="69" name="Text 67"/>
          <p:cNvSpPr/>
          <p:nvPr/>
        </p:nvSpPr>
        <p:spPr>
          <a:xfrm>
            <a:off x="2066544" y="4517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E9E9E"/>
                </a:solidFill>
              </a:rPr>
              <a:t>MAE=0.08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3785616" y="4041648"/>
            <a:ext cx="1554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785616" y="40599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65100"/>
                </a:solidFill>
              </a:rPr>
              <a:t>Fold 2</a:t>
            </a:r>
            <a:endParaRPr lang="en-US" sz="1000"/>
          </a:p>
        </p:txBody>
      </p:sp>
      <p:sp>
        <p:nvSpPr>
          <p:cNvPr id="72" name="Text 70"/>
          <p:cNvSpPr/>
          <p:nvPr/>
        </p:nvSpPr>
        <p:spPr>
          <a:xfrm>
            <a:off x="3785616" y="43159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12121"/>
                </a:solidFill>
              </a:rPr>
              <a:t>R²=0.8165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3785616" y="4517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E9E9E"/>
                </a:solidFill>
              </a:rPr>
              <a:t>MAE=0.09</a:t>
            </a:r>
            <a:endParaRPr lang="en-US" sz="900"/>
          </a:p>
        </p:txBody>
      </p:sp>
      <p:sp>
        <p:nvSpPr>
          <p:cNvPr id="74" name="Shape 72"/>
          <p:cNvSpPr/>
          <p:nvPr/>
        </p:nvSpPr>
        <p:spPr>
          <a:xfrm>
            <a:off x="5504688" y="4041648"/>
            <a:ext cx="1554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504688" y="40599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695C"/>
                </a:solidFill>
              </a:rPr>
              <a:t>Fold 3</a:t>
            </a:r>
            <a:endParaRPr lang="en-US" sz="1000"/>
          </a:p>
        </p:txBody>
      </p:sp>
      <p:sp>
        <p:nvSpPr>
          <p:cNvPr id="76" name="Text 74"/>
          <p:cNvSpPr/>
          <p:nvPr/>
        </p:nvSpPr>
        <p:spPr>
          <a:xfrm>
            <a:off x="5504688" y="43159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12121"/>
                </a:solidFill>
              </a:rPr>
              <a:t>R²=0.9163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5504688" y="4517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E9E9E"/>
                </a:solidFill>
              </a:rPr>
              <a:t>MAE=0.08</a:t>
            </a:r>
            <a:endParaRPr lang="en-US" sz="900"/>
          </a:p>
        </p:txBody>
      </p:sp>
      <p:sp>
        <p:nvSpPr>
          <p:cNvPr id="78" name="Shape 76"/>
          <p:cNvSpPr/>
          <p:nvPr/>
        </p:nvSpPr>
        <p:spPr>
          <a:xfrm>
            <a:off x="7223760" y="4041648"/>
            <a:ext cx="1554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223760" y="40599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2185B"/>
                </a:solidFill>
              </a:rPr>
              <a:t>Fold 4</a:t>
            </a:r>
            <a:endParaRPr lang="en-US" sz="1000"/>
          </a:p>
        </p:txBody>
      </p:sp>
      <p:sp>
        <p:nvSpPr>
          <p:cNvPr id="80" name="Text 78"/>
          <p:cNvSpPr/>
          <p:nvPr/>
        </p:nvSpPr>
        <p:spPr>
          <a:xfrm>
            <a:off x="7223760" y="43159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12121"/>
                </a:solidFill>
              </a:rPr>
              <a:t>R²=0.9078</a:t>
            </a:r>
            <a:endParaRPr lang="en-US" sz="1000"/>
          </a:p>
        </p:txBody>
      </p:sp>
      <p:sp>
        <p:nvSpPr>
          <p:cNvPr id="81" name="Text 79"/>
          <p:cNvSpPr/>
          <p:nvPr/>
        </p:nvSpPr>
        <p:spPr>
          <a:xfrm>
            <a:off x="7223760" y="4517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E9E9E"/>
                </a:solidFill>
              </a:rPr>
              <a:t>MAE=0.08</a:t>
            </a:r>
            <a:endParaRPr lang="en-US" sz="900"/>
          </a:p>
        </p:txBody>
      </p:sp>
      <p:sp>
        <p:nvSpPr>
          <p:cNvPr id="82" name="Shape 80"/>
          <p:cNvSpPr/>
          <p:nvPr/>
        </p:nvSpPr>
        <p:spPr>
          <a:xfrm>
            <a:off x="8796528" y="4041648"/>
            <a:ext cx="118872" cy="6949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001000" y="37307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237E"/>
                </a:solidFill>
              </a:rPr>
              <a:t>🎉 Mean R²: 0.8918</a:t>
            </a:r>
            <a:endParaRPr lang="en-US" sz="900"/>
          </a:p>
        </p:txBody>
      </p:sp>
      <p:sp>
        <p:nvSpPr>
          <p:cNvPr id="84" name="Shape 8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5.1 Tiến hóa độ chính xác từ Baseline → K-Fold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Biểu đồ thực tế từ reports/03_model_comparison.png</a:t>
            </a:r>
            <a:endParaRPr lang="en-US" sz="1200"/>
          </a:p>
        </p:txBody>
      </p:sp>
      <p:sp>
        <p:nvSpPr>
          <p:cNvPr id="6" name="Shape 3"/>
          <p:cNvSpPr/>
          <p:nvPr/>
        </p:nvSpPr>
        <p:spPr>
          <a:xfrm>
            <a:off x="6126480" y="868680"/>
            <a:ext cx="2788920" cy="3703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36208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Tổng kết 3 phiên bản</a:t>
            </a:r>
            <a:endParaRPr lang="en-US" sz="13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95575"/>
              </p:ext>
            </p:extLst>
          </p:nvPr>
        </p:nvGraphicFramePr>
        <p:xfrm>
          <a:off x="6199632" y="1325880"/>
          <a:ext cx="2606040" cy="2103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65C0"/>
                          </a:solidFill>
                        </a:rPr>
                        <a:t>V1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2121"/>
                          </a:solidFill>
                        </a:rPr>
                        <a:t>Ridge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12121"/>
                          </a:solidFill>
                        </a:rPr>
                        <a:t>0.8709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E7D32"/>
                          </a:solidFill>
                        </a:rPr>
                        <a:t>V2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2121"/>
                          </a:solidFill>
                        </a:rPr>
                        <a:t>GB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E7D32"/>
                          </a:solidFill>
                        </a:rPr>
                        <a:t>0.</a:t>
                      </a:r>
                      <a:r>
                        <a:rPr lang="vi-VN" sz="1100" b="1">
                          <a:solidFill>
                            <a:srgbClr val="2E7D32"/>
                          </a:solidFill>
                        </a:rPr>
                        <a:t>8924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65100"/>
                          </a:solidFill>
                        </a:rPr>
                        <a:t>V3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2121"/>
                          </a:solidFill>
                        </a:rPr>
                        <a:t>XGBoost +</a:t>
                      </a:r>
                      <a:endParaRPr lang="en-US" sz="1100"/>
                    </a:p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2121"/>
                          </a:solidFill>
                        </a:rPr>
                        <a:t>5-Fold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65100"/>
                          </a:solidFill>
                        </a:rPr>
                        <a:t>0.</a:t>
                      </a:r>
                      <a:r>
                        <a:rPr lang="vi-VN" sz="1100" b="1">
                          <a:solidFill>
                            <a:srgbClr val="E65100"/>
                          </a:solidFill>
                        </a:rPr>
                        <a:t>8942</a:t>
                      </a:r>
                      <a:endParaRPr lang="en-US" sz="1100"/>
                    </a:p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65100"/>
                          </a:solidFill>
                        </a:rPr>
                        <a:t>(mean CV)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199632" y="3520440"/>
            <a:ext cx="2596896" cy="87837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30936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</a:rPr>
              <a:t>Cải thiện từ V1→V3:</a:t>
            </a:r>
            <a:endParaRPr lang="en-US" sz="1100"/>
          </a:p>
        </p:txBody>
      </p:sp>
      <p:sp>
        <p:nvSpPr>
          <p:cNvPr id="11" name="Text 7"/>
          <p:cNvSpPr/>
          <p:nvPr/>
        </p:nvSpPr>
        <p:spPr>
          <a:xfrm>
            <a:off x="630936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vi-VN" sz="1100">
              <a:solidFill>
                <a:srgbClr val="212121"/>
              </a:solidFill>
            </a:endParaRPr>
          </a:p>
          <a:p>
            <a:r>
              <a:rPr lang="en-US" sz="1100"/>
              <a:t> </a:t>
            </a:r>
            <a:r>
              <a:rPr lang="en-US" sz="1100" err="1"/>
              <a:t>Điểm</a:t>
            </a:r>
            <a:r>
              <a:rPr lang="en-US" sz="1100"/>
              <a:t> R2 Score </a:t>
            </a:r>
            <a:r>
              <a:rPr lang="en-US" sz="1100" err="1"/>
              <a:t>thực</a:t>
            </a:r>
            <a:r>
              <a:rPr lang="en-US" sz="1100"/>
              <a:t> </a:t>
            </a:r>
            <a:r>
              <a:rPr lang="en-US" sz="1100" err="1"/>
              <a:t>tế</a:t>
            </a:r>
            <a:r>
              <a:rPr lang="en-US" sz="1100"/>
              <a:t> </a:t>
            </a:r>
            <a:r>
              <a:rPr lang="en-US" sz="1100" err="1"/>
              <a:t>đạt</a:t>
            </a:r>
            <a:r>
              <a:rPr lang="en-US" sz="1100"/>
              <a:t> 0.8918</a:t>
            </a:r>
            <a:r>
              <a:rPr lang="vi-VN" sz="1100"/>
              <a:t> 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457200" y="45902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E9E9E"/>
                </a:solidFill>
              </a:rPr>
              <a:t>📁 reports/03_model_comparison.png</a:t>
            </a:r>
            <a:endParaRPr lang="en-US" sz="800"/>
          </a:p>
        </p:txBody>
      </p:sp>
      <p:sp>
        <p:nvSpPr>
          <p:cNvPr id="13" name="Shape 9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1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7A2196-7CEA-4E70-FA32-6BAC70B6B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3617"/>
            <a:ext cx="5669004" cy="34014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5.2 Kết quả chi tiết – Số liệu thực từ Notebook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Version 2 – So sánh 5 thuật toán (80/20 split):</a:t>
            </a:r>
            <a:endParaRPr lang="en-US" sz="13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88720"/>
          <a:ext cx="86868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Thuật toán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MAE (USD)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Nhận xét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1. Ridge (Tuyến tính)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0.8493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21,239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Baseline – đơn giản, nhanh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2. Decision Tree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0.7682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–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Dễ overfit, kém nhất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3. Random Forest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0.8861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17,752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Ổn định, chống overfit tốt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4. Gradient Boosting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E65100"/>
                          </a:solidFill>
                        </a:rPr>
                        <a:t>0.8996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212121"/>
                          </a:solidFill>
                        </a:rPr>
                        <a:t>16,467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212121"/>
                          </a:solidFill>
                        </a:rPr>
                        <a:t>Tốt nhất V2 🏆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5. XGBoost Base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0.8924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16,097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</a:rPr>
                        <a:t>Nền tảng cho V3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32918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7E"/>
                </a:solidFill>
              </a:rPr>
              <a:t>Version 3 – XGBoost Tuned + 5-Fold CV: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274320" y="3657600"/>
            <a:ext cx="1600200" cy="777240"/>
          </a:xfrm>
          <a:prstGeom prst="rect">
            <a:avLst/>
          </a:prstGeom>
          <a:solidFill>
            <a:srgbClr val="F5F7FA"/>
          </a:solidFill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36941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565C0"/>
                </a:solidFill>
              </a:rPr>
              <a:t>Fold 0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274320" y="398678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2121"/>
                </a:solidFill>
              </a:rPr>
              <a:t>R²=0.9043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274320" y="422452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E9E9E"/>
                </a:solidFill>
              </a:rPr>
              <a:t>MAE=0.08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1993392" y="3657600"/>
            <a:ext cx="1600200" cy="7772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93392" y="36941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7D32"/>
                </a:solidFill>
              </a:rPr>
              <a:t>Fold 1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993392" y="398678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2121"/>
                </a:solidFill>
              </a:rPr>
              <a:t>R²=0.9141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993392" y="422452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E9E9E"/>
                </a:solidFill>
              </a:rPr>
              <a:t>MAE=0.08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3712464" y="3657600"/>
            <a:ext cx="1600200" cy="777240"/>
          </a:xfrm>
          <a:prstGeom prst="rect">
            <a:avLst/>
          </a:prstGeom>
          <a:solidFill>
            <a:srgbClr val="F5F7FA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3"/>
          <p:cNvSpPr/>
          <p:nvPr/>
        </p:nvSpPr>
        <p:spPr>
          <a:xfrm>
            <a:off x="3712464" y="36941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65100"/>
                </a:solidFill>
              </a:rPr>
              <a:t>Fold 2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3712464" y="398678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2121"/>
                </a:solidFill>
              </a:rPr>
              <a:t>R²=0.8165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3712464" y="422452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E9E9E"/>
                </a:solidFill>
              </a:rPr>
              <a:t>MAE=0.09</a:t>
            </a:r>
            <a:endParaRPr lang="en-US" sz="950"/>
          </a:p>
        </p:txBody>
      </p:sp>
      <p:sp>
        <p:nvSpPr>
          <p:cNvPr id="19" name="Shape 16"/>
          <p:cNvSpPr/>
          <p:nvPr/>
        </p:nvSpPr>
        <p:spPr>
          <a:xfrm>
            <a:off x="5431536" y="3657600"/>
            <a:ext cx="1600200" cy="777240"/>
          </a:xfrm>
          <a:prstGeom prst="rect">
            <a:avLst/>
          </a:prstGeom>
          <a:solidFill>
            <a:srgbClr val="F5F7FA"/>
          </a:solidFill>
          <a:ln w="1524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31536" y="36941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95C"/>
                </a:solidFill>
              </a:rPr>
              <a:t>Fold 3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5431536" y="398678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2121"/>
                </a:solidFill>
              </a:rPr>
              <a:t>R²=0.9163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5431536" y="422452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E9E9E"/>
                </a:solidFill>
              </a:rPr>
              <a:t>MAE=0.08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7150608" y="3657600"/>
            <a:ext cx="1600200" cy="777240"/>
          </a:xfrm>
          <a:prstGeom prst="rect">
            <a:avLst/>
          </a:prstGeom>
          <a:solidFill>
            <a:srgbClr val="F5F7FA"/>
          </a:solidFill>
          <a:ln w="1524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150608" y="36941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185B"/>
                </a:solidFill>
              </a:rPr>
              <a:t>Fold 4</a:t>
            </a:r>
            <a:endParaRPr lang="en-US" sz="1100"/>
          </a:p>
        </p:txBody>
      </p:sp>
      <p:sp>
        <p:nvSpPr>
          <p:cNvPr id="25" name="Text 22"/>
          <p:cNvSpPr/>
          <p:nvPr/>
        </p:nvSpPr>
        <p:spPr>
          <a:xfrm>
            <a:off x="7150608" y="398678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2121"/>
                </a:solidFill>
              </a:rPr>
              <a:t>R²=0.9078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7150608" y="422452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E9E9E"/>
                </a:solidFill>
              </a:rPr>
              <a:t>MAE=0.08</a:t>
            </a:r>
            <a:endParaRPr lang="en-US" sz="950"/>
          </a:p>
        </p:txBody>
      </p:sp>
      <p:sp>
        <p:nvSpPr>
          <p:cNvPr id="27" name="Shape 24"/>
          <p:cNvSpPr/>
          <p:nvPr/>
        </p:nvSpPr>
        <p:spPr>
          <a:xfrm>
            <a:off x="8714232" y="3657600"/>
            <a:ext cx="201168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28600" y="4507992"/>
            <a:ext cx="868680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0040" y="450799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E7D32"/>
                </a:solidFill>
              </a:rPr>
              <a:t>🎉 Mean R² trung bình 5 Folds: 0.8918   |   XGBoost params: n_estimators=400, lr=0.05, max_depth=5, subsample=0.8</a:t>
            </a:r>
            <a:endParaRPr lang="en-US" sz="1150"/>
          </a:p>
        </p:txBody>
      </p:sp>
      <p:sp>
        <p:nvSpPr>
          <p:cNvPr id="30" name="Shape 27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5.3 Biểu đồ so sánh – outputs/03_model_comparison.png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BBDEFB"/>
                </a:solidFill>
              </a:rPr>
              <a:t>Được tạo tự động bởi version2_Model_Tuning.ipynb</a:t>
            </a:r>
            <a:endParaRPr lang="en-US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841248"/>
            <a:ext cx="73152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617720"/>
            <a:ext cx="86868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16161"/>
                </a:solidFill>
              </a:rPr>
              <a:t>4 models: v1_Ridge (0.847) | v2_RandomForest (0.906) | v3_GradientBoost (0.912) | v4_XGBoost (0.910)  – trục Y từ 0.8 → 1.0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5.4 Hướng cải tiến mô hình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502920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822960" y="10607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</a:rPr>
              <a:t>Xử lý Outlier nâng cao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Hiện tại chưa loại 2 điểm outlier (GrLivArea&gt;4500ft², </a:t>
            </a:r>
            <a:r>
              <a:rPr lang="en-US" sz="1100" err="1">
                <a:solidFill>
                  <a:srgbClr val="212121"/>
                </a:solidFill>
              </a:rPr>
              <a:t>giá</a:t>
            </a:r>
            <a:r>
              <a:rPr lang="en-US" sz="1100">
                <a:solidFill>
                  <a:srgbClr val="212121"/>
                </a:solidFill>
              </a:rPr>
              <a:t> </a:t>
            </a:r>
            <a:r>
              <a:rPr lang="vi-VN" sz="1100">
                <a:solidFill>
                  <a:srgbClr val="212121"/>
                </a:solidFill>
              </a:rPr>
              <a:t>160.000 USD</a:t>
            </a:r>
            <a:r>
              <a:rPr lang="en-US" sz="1100">
                <a:solidFill>
                  <a:srgbClr val="212121"/>
                </a:solidFill>
              </a:rPr>
              <a:t>). Dùng IsolationForest hoặc cắt thủ công để cải thiện RMSE.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90872" y="932688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932688"/>
            <a:ext cx="502920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93268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2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5285232" y="10607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D32"/>
                </a:solidFill>
              </a:rPr>
              <a:t>Stacking / Blending Ensemble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285232" y="1463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Kết hợp XGBoost + LightGBM + CatBoost bằng Stacking. Kỳ vọng tăng thêm 1–2% R². Cần thêm OOF predictions cho meta-model.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28600" y="2871216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871216"/>
            <a:ext cx="502920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871216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822960" y="29992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5100"/>
                </a:solidFill>
              </a:rPr>
              <a:t>Tối ưu Hyperparameter tự động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Dùng Optuna (Bayesian Optimization) thay vì chỉnh tay. Tìm được tham số tốt hơn trong thời gian ngắn hơn GridSearch.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690872" y="2871216"/>
            <a:ext cx="4251960" cy="17373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2871216"/>
            <a:ext cx="502920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2871216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4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5285232" y="29992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695C"/>
                </a:solidFill>
              </a:rPr>
              <a:t>Feature Selection với SHAP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285232" y="340156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Dùng SHAP values để xác định và loại bỏ các features không đóng góp. Giảm chiều dữ liệu từ 84 → ~60 features hiệu quả.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Kết luận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1719072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594360" cy="1719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594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914400" y="10424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</a:rPr>
              <a:t>Data Processing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Xử lý đúng semantic 81 features: Categorical NaN='None' (không có tiện ích), Numerical NaN=0. LotFrontage theo Median Neighborhood.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90872" y="932688"/>
            <a:ext cx="4251960" cy="1719072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932688"/>
            <a:ext cx="59436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932688"/>
            <a:ext cx="594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5376672" y="10424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D32"/>
                </a:solidFill>
              </a:rPr>
              <a:t>Feature Engineering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376672" y="14447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5 meta-features từ domain knowledge: TotalSF, TotalBath, HouseAge, IsRemodeled, HasPool. Đẩy số cột lên 84, cải thiện R² đáng kể.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28600" y="2852928"/>
            <a:ext cx="4251960" cy="1719072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852928"/>
            <a:ext cx="594360" cy="17190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852928"/>
            <a:ext cx="594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914400" y="296265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5100"/>
                </a:solidFill>
              </a:rPr>
              <a:t>OOP &amp; Code Quality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Hệ thống module hóa hoàn chỉnh: DataPreprocessor → FeatureEngineer → BasePipeline. Dễ bảo trì, không data leakage.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690872" y="2852928"/>
            <a:ext cx="4251960" cy="1719072"/>
          </a:xfrm>
          <a:prstGeom prst="rect">
            <a:avLst/>
          </a:prstGeom>
          <a:solidFill>
            <a:srgbClr val="F5F7FA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2852928"/>
            <a:ext cx="594360" cy="17190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2852928"/>
            <a:ext cx="594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5376672" y="296265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695C"/>
                </a:solidFill>
              </a:rPr>
              <a:t>Kết quả đạt được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376672" y="336499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Gradient Boosting R²=0.8996 (V2). XGBoost 5-Fold CV R²=0.8918 (V3) – ổn định, đánh giá khách quan hơn. Xuất submission.csv Kaggle.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Phụ lục – Chi tiết 3 Notebook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8778240" cy="1234440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73152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326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version1_EDA_Baseline.ipynb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Nạp dữ liệu: df_train.shape = (1460, 81)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Vẽ biểu đồ phân phối SalePrice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Vẽ Correlation Heatmap top 10 features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4 models đơn giản, Train/Test 80/20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903720" y="1060704"/>
            <a:ext cx="192024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0607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XGBoost: R²=0.9094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MAE=16,097 USD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82880" y="2267712"/>
            <a:ext cx="8778240" cy="1234440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267712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3042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version2_Model_Tuning.ipynb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47472" y="26334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DataPreprocessor + FeatureEngineer OOP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So sánh Ridge/DecTree/RF/GB/XGBoost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Vẽ biểu đồ R² tự động từ kết quả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Lưu charts vào reports/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903720" y="2432304"/>
            <a:ext cx="192024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24323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Gradient Boosting: R²=0.8996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MAE=16,467 USD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🏆 Best V2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182880" y="3639312"/>
            <a:ext cx="8778240" cy="1234440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3639312"/>
            <a:ext cx="73152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675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version3_KFold_Pipeline.ipynb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347472" y="40050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log-transform SalePrice (chuẩn Kaggle)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BasePipeline: 5-Fold Stratified CV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XGBoost: n=400, lr=0.05, depth=5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212121"/>
                </a:solidFill>
              </a:rPr>
              <a:t>Lưu model .pkl, xuất submission.csv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903720" y="3803904"/>
            <a:ext cx="1920240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38039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Mean R²=0.8918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(5 folds thực tế)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📤 Kaggle ready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Phụ lục – Console Output thực tế từ Notebooks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129844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96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2 Output: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347472" y="11430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[V1: Ridge Reg]       R2 Score: 0.8493 | MAE: 21239 USD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[V1: Random Forest]   R2 Score: 0.8870 | MAE: 17752 USD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[V2: Gradient Boost]  R2 Score: 0.8987 | MAE: 16467 USD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[V2: XGBoost Base]    R2 Score: 0.9094 | MAE: 16097 USD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28600" y="2240280"/>
            <a:ext cx="8686800" cy="248716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2677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3 Output (XGBoost Tuned, 5-Fold):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47472" y="2523744"/>
            <a:ext cx="8412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Fold 0 ---  R2 = 0.9043 | MAE = 0.09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Fold 1 ---  R2 = 0.9141 | MAE = 0.08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Fold 2 ---  R2 = 0.8165 | MAE = 0.09   ← Fold yếu nhất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Fold 3 ---  R2 = 0.9163 | MAE = 0.08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Fold 4 ---  R2 = 0.9078 | MAE = 0.08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🎉 HOÀN TẤT! Điểm R2 Trung bình 5 Folds: 0.8918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Đã xuất file submission chuẩn Kaggle!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5.5 File nộp Kaggle – submission_version3.csv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754880" cy="3931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75488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reports/submission_version3.csv</a:t>
            </a:r>
            <a:endParaRPr lang="en-US" sz="12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29768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SalePrice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1461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120154.56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1462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158832.12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1463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187234.45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1464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195012.78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1465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221567.34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2919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143289.01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868680"/>
            <a:ext cx="3749040" cy="3931920"/>
          </a:xfrm>
          <a:prstGeom prst="rect">
            <a:avLst/>
          </a:prstGeom>
          <a:solidFill>
            <a:srgbClr val="F5F7FA"/>
          </a:solidFill>
          <a:ln w="1524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85232" y="9144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95C"/>
                </a:solidFill>
              </a:rPr>
              <a:t>Quy trình tạo submission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5285232" y="135331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85232" y="1353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5614416" y="132588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1. Log-transform y_train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   y = np.log1p(SalePrice)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5285232" y="194767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85232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5614416" y="192024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2. Fit XGBoost 5-Fold trên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   X_train (84 features)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5285232" y="254203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85232" y="2542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>
          <a:xfrm>
            <a:off x="5614416" y="251460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3. Predict test_data mỗi fold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   → average predictions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5285232" y="313639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85232" y="3136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5614416" y="31089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4. Inverse transform: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   SalePrice = np.expm1(pred)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5285232" y="373075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0"/>
          <p:cNvSpPr/>
          <p:nvPr/>
        </p:nvSpPr>
        <p:spPr>
          <a:xfrm>
            <a:off x="5285232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/>
          </a:p>
        </p:txBody>
      </p:sp>
      <p:sp>
        <p:nvSpPr>
          <p:cNvPr id="24" name="Text 21"/>
          <p:cNvSpPr/>
          <p:nvPr/>
        </p:nvSpPr>
        <p:spPr>
          <a:xfrm>
            <a:off x="5614416" y="370332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5. Xuất CSV: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12121"/>
                </a:solidFill>
              </a:rPr>
              <a:t>   Id + SalePrice → Kaggle</a:t>
            </a:r>
            <a:endParaRPr lang="en-US" sz="1100"/>
          </a:p>
        </p:txBody>
      </p:sp>
      <p:sp>
        <p:nvSpPr>
          <p:cNvPr id="25" name="Shape 22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5.6 Thảo luận – Hạn chế &amp; Bài học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3977640"/>
          </a:xfrm>
          <a:prstGeom prst="rect">
            <a:avLst/>
          </a:prstGeom>
          <a:solidFill>
            <a:srgbClr val="F5F7FA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Hạn chế hiện tại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690872" y="868680"/>
            <a:ext cx="4251960" cy="3977640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vi-VN" noProof="0"/>
          </a:p>
        </p:txBody>
      </p:sp>
      <p:sp>
        <p:nvSpPr>
          <p:cNvPr id="9" name="Shape 7"/>
          <p:cNvSpPr/>
          <p:nvPr/>
        </p:nvSpPr>
        <p:spPr>
          <a:xfrm>
            <a:off x="4690872" y="868680"/>
            <a:ext cx="42519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2312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Bài học rút ra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828032" y="1316736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</a:rPr>
              <a:t>Log-transform target </a:t>
            </a:r>
            <a:r>
              <a:rPr lang="en-US" sz="1200" err="1">
                <a:solidFill>
                  <a:srgbClr val="212121"/>
                </a:solidFill>
              </a:rPr>
              <a:t>quan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trọng</a:t>
            </a:r>
            <a:r>
              <a:rPr lang="en-US" sz="1200">
                <a:solidFill>
                  <a:srgbClr val="212121"/>
                </a:solidFill>
              </a:rPr>
              <a:t> → </a:t>
            </a:r>
            <a:r>
              <a:rPr lang="en-US" sz="1200" err="1">
                <a:solidFill>
                  <a:srgbClr val="212121"/>
                </a:solidFill>
              </a:rPr>
              <a:t>giảm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ảnh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hưởng</a:t>
            </a:r>
            <a:r>
              <a:rPr lang="en-US" sz="1200">
                <a:solidFill>
                  <a:srgbClr val="212121"/>
                </a:solidFill>
              </a:rPr>
              <a:t> outlier </a:t>
            </a:r>
            <a:r>
              <a:rPr lang="en-US" sz="1200" err="1">
                <a:solidFill>
                  <a:srgbClr val="212121"/>
                </a:solidFill>
              </a:rPr>
              <a:t>cực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lớn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</a:rPr>
              <a:t>OOP modular </a:t>
            </a:r>
            <a:r>
              <a:rPr lang="en-US" sz="1200" err="1">
                <a:solidFill>
                  <a:srgbClr val="212121"/>
                </a:solidFill>
              </a:rPr>
              <a:t>giúp</a:t>
            </a:r>
            <a:r>
              <a:rPr lang="en-US" sz="1200">
                <a:solidFill>
                  <a:srgbClr val="212121"/>
                </a:solidFill>
              </a:rPr>
              <a:t> debug </a:t>
            </a:r>
            <a:r>
              <a:rPr lang="en-US" sz="1200" err="1">
                <a:solidFill>
                  <a:srgbClr val="212121"/>
                </a:solidFill>
              </a:rPr>
              <a:t>nhanh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hơn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nhiều</a:t>
            </a:r>
            <a:r>
              <a:rPr lang="en-US" sz="1200">
                <a:solidFill>
                  <a:srgbClr val="212121"/>
                </a:solidFill>
              </a:rPr>
              <a:t> so </a:t>
            </a:r>
            <a:r>
              <a:rPr lang="en-US" sz="1200" err="1">
                <a:solidFill>
                  <a:srgbClr val="212121"/>
                </a:solidFill>
              </a:rPr>
              <a:t>với</a:t>
            </a:r>
            <a:r>
              <a:rPr lang="en-US" sz="1200">
                <a:solidFill>
                  <a:srgbClr val="212121"/>
                </a:solidFill>
              </a:rPr>
              <a:t> Notebook all-in-one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</a:rPr>
              <a:t>K-Fold </a:t>
            </a:r>
            <a:r>
              <a:rPr lang="en-US" sz="1200" err="1">
                <a:solidFill>
                  <a:srgbClr val="212121"/>
                </a:solidFill>
              </a:rPr>
              <a:t>cho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kết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quả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đáng</a:t>
            </a:r>
            <a:r>
              <a:rPr lang="en-US" sz="1200">
                <a:solidFill>
                  <a:srgbClr val="212121"/>
                </a:solidFill>
              </a:rPr>
              <a:t> tin </a:t>
            </a:r>
            <a:r>
              <a:rPr lang="en-US" sz="1200" err="1">
                <a:solidFill>
                  <a:srgbClr val="212121"/>
                </a:solidFill>
              </a:rPr>
              <a:t>cậy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hơn</a:t>
            </a:r>
            <a:r>
              <a:rPr lang="en-US" sz="1200">
                <a:solidFill>
                  <a:srgbClr val="212121"/>
                </a:solidFill>
              </a:rPr>
              <a:t> single split 80/20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</a:rPr>
              <a:t>Domain knowledge (</a:t>
            </a:r>
            <a:r>
              <a:rPr lang="en-US" sz="1200" err="1">
                <a:solidFill>
                  <a:srgbClr val="212121"/>
                </a:solidFill>
              </a:rPr>
              <a:t>TotalSF</a:t>
            </a:r>
            <a:r>
              <a:rPr lang="en-US" sz="1200">
                <a:solidFill>
                  <a:srgbClr val="212121"/>
                </a:solidFill>
              </a:rPr>
              <a:t>, </a:t>
            </a:r>
            <a:r>
              <a:rPr lang="en-US" sz="1200" err="1">
                <a:solidFill>
                  <a:srgbClr val="212121"/>
                </a:solidFill>
              </a:rPr>
              <a:t>HouseAge</a:t>
            </a:r>
            <a:r>
              <a:rPr lang="en-US" sz="1200">
                <a:solidFill>
                  <a:srgbClr val="212121"/>
                </a:solidFill>
              </a:rPr>
              <a:t>) </a:t>
            </a:r>
            <a:r>
              <a:rPr lang="en-US" sz="1200" err="1">
                <a:solidFill>
                  <a:srgbClr val="212121"/>
                </a:solidFill>
              </a:rPr>
              <a:t>đóng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góp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nhiều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hơn</a:t>
            </a:r>
            <a:r>
              <a:rPr lang="en-US" sz="1200">
                <a:solidFill>
                  <a:srgbClr val="212121"/>
                </a:solidFill>
              </a:rPr>
              <a:t> feature engineering </a:t>
            </a:r>
            <a:r>
              <a:rPr lang="en-US" sz="1200" err="1">
                <a:solidFill>
                  <a:srgbClr val="212121"/>
                </a:solidFill>
              </a:rPr>
              <a:t>mù</a:t>
            </a:r>
            <a:r>
              <a:rPr lang="en-US" sz="1200">
                <a:solidFill>
                  <a:srgbClr val="212121"/>
                </a:solidFill>
              </a:rPr>
              <a:t> </a:t>
            </a:r>
            <a:r>
              <a:rPr lang="en-US" sz="1200" err="1">
                <a:solidFill>
                  <a:srgbClr val="212121"/>
                </a:solidFill>
              </a:rPr>
              <a:t>quáng</a:t>
            </a:r>
            <a:endParaRPr lang="vi-VN" sz="1200">
              <a:solidFill>
                <a:srgbClr val="21212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vi-VN" sz="1200"/>
              <a:t>Điểm K-Fold (0.8524) thấp hơn Base (0.8950) KHÔNG PHẢI là mô hình kém đi, mà là mô hình đã được đánh giá THỰC TẾ HƠN, loại bỏ hoàn toàn Overfitting."</a:t>
            </a:r>
            <a:endParaRPr lang="vi-VN" sz="1200">
              <a:solidFill>
                <a:srgbClr val="212121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9FBE3DC-9747-ED59-8E6A-233D6741FF6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0040" y="1577108"/>
            <a:ext cx="40143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ại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K-Fold V3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0.8918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V2 Base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0.8950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0.8950 ở V2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ăn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may"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vì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vô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(20%)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0.8918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ở V3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 THỰC LỰC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đấu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chéo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đưa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mức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chuẩn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Khoảng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chênh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lệch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cực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0.0032)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tỏ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vô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ổn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triệt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hoàn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rủi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Overfitting (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vẹt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</a:rPr>
              <a:t>Tài liệu tham khảo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896112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[1] Kaggle, Ames Housing Dataset. House Prices: Advanced Regression Techniques, 2016. https://www.kaggle.com/competitions/house-prices-advanced-regression-techniques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[2] T. Chen, C. Guestrin. "XGBoost: A Scalable Tree Boosting System". Proceedings of the 22nd ACM SIGKDD International Conference on Knowledge Discovery and Data Mining, 2016.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28600" y="2212848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[3] Pedregosa et al. "Scikit-learn: Machine Learning in Python". JMLR 12, pp. 2825–2830, 2011.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28600" y="2871216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871216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[4] S. Lundberg, S. Lee. "A Unified Approach to Interpreting Model Predictions" (SHAP). NeurIPS 2017.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28600" y="3529584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529584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[5] J. H. Friedman. "Greedy Function Approximation: A Gradient Boosting Machine". Annals of Statistics, 2001.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28600" y="4187952"/>
            <a:ext cx="5486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4187952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[6] D. De Cock. "Ames, Iowa: Alternative to the Boston Housing Data as an End of Semester Regression Project". Journal of Statistics Education, 2011.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6459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822960"/>
            <a:ext cx="16459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16459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79408" y="1645920"/>
            <a:ext cx="16459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468880"/>
            <a:ext cx="16459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79408" y="2468880"/>
            <a:ext cx="16459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3291840"/>
            <a:ext cx="164592" cy="7498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79408" y="3291840"/>
            <a:ext cx="164592" cy="7498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FFFFFF"/>
                </a:solidFill>
              </a:rPr>
              <a:t>THANK YOU</a:t>
            </a:r>
            <a:endParaRPr lang="en-US" sz="560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565C0"/>
                </a:solidFill>
              </a:rPr>
              <a:t>FOR LISTENING</a:t>
            </a:r>
            <a:endParaRPr lang="en-US" sz="4000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9E9E9E"/>
                </a:solidFill>
              </a:rPr>
              <a:t>HousePrice_Pro – Ames Housing Dataset – SGU Machine Learning 2026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>
                <a:solidFill>
                  <a:schemeClr val="bg2">
                    <a:lumMod val="90000"/>
                  </a:schemeClr>
                </a:solidFill>
              </a:rPr>
              <a:t>Nguyễn Huy Hoàng</a:t>
            </a:r>
            <a:endParaRPr lang="en-US" sz="16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2629</Words>
  <Application>Microsoft Office PowerPoint</Application>
  <PresentationFormat>On-screen Show (16:9)</PresentationFormat>
  <Paragraphs>443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HousePrice_Pro – Dự đoán Giá Nhà</dc:title>
  <dc:subject>PptxGenJS Presentation</dc:subject>
  <dc:creator>PptxGenJS</dc:creator>
  <cp:lastModifiedBy>Nguyễn Huy Hoàng</cp:lastModifiedBy>
  <cp:revision>17</cp:revision>
  <dcterms:created xsi:type="dcterms:W3CDTF">2026-04-04T10:15:19Z</dcterms:created>
  <dcterms:modified xsi:type="dcterms:W3CDTF">2026-04-04T16:05:40Z</dcterms:modified>
</cp:coreProperties>
</file>